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85e694d-4f42-f5e6-a7df-3b51790c3435}">
          <p14:sldIdLst>
            <p14:sldId id="256"/>
            <p14:sldId id="257"/>
          </p14:sldIdLst>
        </p14:section>
        <p14:section name="Framework" id="{9d372bff-f241-3329-493b-7997a8e0a544}">
          <p14:sldIdLst>
            <p14:sldId id="258"/>
            <p14:sldId id="259"/>
          </p14:sldIdLst>
        </p14:section>
        <p14:section name="Modules" id="{7ad7bf23-51b7-8a54-a424-f07e57ce71fa}">
          <p14:sldIdLst>
            <p14:sldId id="260"/>
            <p14:sldId id="261"/>
            <p14:sldId id="262"/>
            <p14:sldId id="263"/>
          </p14:sldIdLst>
        </p14:section>
        <p14:section name="Results" id="{bb91d8d9-a016-c6d2-3cd5-0c309424ff09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1182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11827"/>
                </a:solidFill>
                <a:latin typeface="+mn-lt"/>
              </a:rPr>
              <a:t>DP work grows as n³  ·  steps = (n³ − n) / 6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DP steps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[&gt;=10000]0,&quot;k&quot;;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7415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n=5</c:v>
                  </c:pt>
                  <c:pt idx="1">
                    <c:v>10</c:v>
                  </c:pt>
                  <c:pt idx="2">
                    <c:v>20</c:v>
                  </c:pt>
                  <c:pt idx="3">
                    <c:v>40</c:v>
                  </c:pt>
                  <c:pt idx="4">
                    <c:v>80</c:v>
                  </c:pt>
                  <c:pt idx="5">
                    <c:v>160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165</c:v>
                </c:pt>
                <c:pt idx="2">
                  <c:v>1330</c:v>
                </c:pt>
                <c:pt idx="3">
                  <c:v>10660</c:v>
                </c:pt>
                <c:pt idx="4">
                  <c:v>85320</c:v>
                </c:pt>
                <c:pt idx="5">
                  <c:v>682640</c:v>
                </c:pt>
              </c:numCache>
            </c:numRef>
          </c:val>
        </c:ser>
        <c:dLbls>
          <c:numFmt formatCode="[&gt;=10000]0,&quot;k&quot;;0" sourceLinked="0"/>
          <c:txPr>
            <a:bodyPr/>
            <a:lstStyle/>
            <a:p>
              <a:pPr>
                <a:defRPr b="0" i="0" strike="noStrike" sz="900" u="none">
                  <a:solidFill>
                    <a:srgbClr val="37415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1182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11827"/>
                </a:solidFill>
                <a:latin typeface="+mn-lt"/>
              </a:rPr>
              <a:t>Operations, 20,000 jobs (comparisons + pointer changes)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Binomial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[&gt;=1000000]0.00,,&quot;M&quot;;0,&quot;k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7415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 updates</c:v>
                  </c:pt>
                  <c:pt idx="1">
                    <c:v>4 nudges</c:v>
                  </c:pt>
                  <c:pt idx="2">
                    <c:v>1 boost</c:v>
                  </c:pt>
                  <c:pt idx="3">
                    <c:v>4 boosts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825301</c:v>
                </c:pt>
                <c:pt idx="1">
                  <c:v>914882</c:v>
                </c:pt>
                <c:pt idx="2">
                  <c:v>1042411</c:v>
                </c:pt>
                <c:pt idx="3">
                  <c:v>1021986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Fibonacci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[&gt;=1000000]0.00,,&quot;M&quot;;0,&quot;k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7415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 updates</c:v>
                  </c:pt>
                  <c:pt idx="1">
                    <c:v>4 nudges</c:v>
                  </c:pt>
                  <c:pt idx="2">
                    <c:v>1 boost</c:v>
                  </c:pt>
                  <c:pt idx="3">
                    <c:v>4 boosts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1121172</c:v>
                </c:pt>
                <c:pt idx="1">
                  <c:v>1276598</c:v>
                </c:pt>
                <c:pt idx="2">
                  <c:v>511932</c:v>
                </c:pt>
                <c:pt idx="3">
                  <c:v>1054581</c:v>
                </c:pt>
              </c:numCache>
            </c:numRef>
          </c:val>
        </c:ser>
        <c:dLbls>
          <c:numFmt formatCode="[&gt;=1000000]0.00,,&quot;M&quot;;0,&quot;k&quot;" sourceLinked="0"/>
          <c:txPr>
            <a:bodyPr/>
            <a:lstStyle/>
            <a:p>
              <a:pPr>
                <a:defRPr b="0" i="0" strike="noStrike" sz="900" u="none">
                  <a:solidFill>
                    <a:srgbClr val="37415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37415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one-line idea: we choose which work runs, how it is computed and in what order, under a thermal budget, using only DAA syllabus techniques. The bar is real output: 0/1 Knapsack admits J2 and J3, filling the budget of 50 exactly, for benefit 220.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problem: heavy jobs together cause heat and throttling. Software cannot cool the CPU, so state the design boundary clearly. Then name the three things software can do: admit the right jobs, do less arithmetic, organise the rest. Each maps to a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table row by row: entity, model, size parameter, technique. Stress that we started from the scenario, not from the algorithm. State the objective (maximise useful output, minimise work) and the constraint (total thermal cost ≤ W).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six stages. The dark box is the heart: rules inspect properties of the input, never algorithm names. Read two or three rules aloud. Mention GCD scaling in the MODEL stage and that telemetry always uses a B-Tree because of the data's shape.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five jobs, same budget, one question: can a job be split? If not, 0/1 DP gets 220, and greedy would get only 190. If yes, the greedy is provably optimal and gets 240. Show the recurrence and complexities. Greedy was wrong in 61.7% of random 40-job instances.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answer, half the arithmetic. ((A1A2)(A3A4)) needs 5,000 multiplications vs 10,500 left to right: 52.4% less work, our proxy for heat. DP work grows exactly as (n³ − n)/6; 160 matrices take about 90 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the bounds: Fibonacci has O(1) amortized decrease-key. Then show the measurement: it wins only when jobs are boosted to the front (512k vs 1.04M operations). With no or small updates, Binomial does less work, so our rule checks the kind of update.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the data's shape decides the structure: ordered timestamp keys, 'last 10 minutes' range queries (a hash table cannot do these), wide shallow nodes for a log on disk, and no deletion. Blue is the search path, orange the range scan. At 50,000 readings: 10 levels, 9.5 nodes and 18.9 comparisons per search, 120 readings in the window.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peak hours to night batch, admission, computation and the run queue all switch technique; the B-Tree stays because the data's shape has not changed. 0/1 DP is pseudo-polynomial: raising W 50× raised time from 1.8 to about 107 ms and memory to 13 MiB, while the greedy stayed at about 0.03 ms. 35/35 tests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findings, three limitations, and the gaps that motivated newer algorithms (pairing heaps, Hu–Shing, B+ Trees, LSM-Trees). End with 'Thank you' and invite questions. Have the dashboard open in case they ask for 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0"/>
            <a:ext cx="444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ThermoSched · Group 11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762000" y="571500"/>
            <a:ext cx="10668000" cy="254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5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762000" y="876300"/>
            <a:ext cx="10668000" cy="952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00" y="6350000"/>
            <a:ext cx="635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00" y="6350000"/>
            <a:ext cx="635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889000"/>
            <a:ext cx="762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AND ANALYSIS OF ALGORITHMS · ASSIGNMENT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1143000"/>
            <a:ext cx="762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11 · SCHOOL OF TECHNOLOGY</a:t>
            </a:r>
            <a:endParaRPr lang="en-US" sz="1100" dirty="0"/>
          </a:p>
        </p:txBody>
      </p:sp>
      <p:sp>
        <p:nvSpPr>
          <p:cNvPr id="4" name="Logo plate"/>
          <p:cNvSpPr/>
          <p:nvPr/>
        </p:nvSpPr>
        <p:spPr>
          <a:xfrm>
            <a:off x="9804400" y="711200"/>
            <a:ext cx="1625600" cy="812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</p:spPr>
      </p:sp>
      <p:pic>
        <p:nvPicPr>
          <p:cNvPr id="5" name="Image 0" descr="Woxsen University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0" y="800100"/>
            <a:ext cx="1346200" cy="635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62000" y="2254250"/>
            <a:ext cx="7620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ThermoSched</a:t>
            </a:r>
            <a:endParaRPr lang="en-US" sz="8400" dirty="0"/>
          </a:p>
        </p:txBody>
      </p:sp>
      <p:sp>
        <p:nvSpPr>
          <p:cNvPr id="7" name="Text 4"/>
          <p:cNvSpPr txBox="1"/>
          <p:nvPr/>
        </p:nvSpPr>
        <p:spPr>
          <a:xfrm>
            <a:off x="762000" y="34798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Thermal-Aware CPU Workload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Framework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62000" y="4445000"/>
            <a:ext cx="571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which jobs run, how they are computed and in what order, under a limited thermal budget, using only DAA syllabus techniques.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3524250"/>
            <a:ext cx="3429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THERMAL BUDGET · 50 UNITS · PEAK HOURS</a:t>
            </a:r>
            <a:endParaRPr lang="en-US" sz="900" dirty="0"/>
          </a:p>
        </p:txBody>
      </p:sp>
      <p:sp>
        <p:nvSpPr>
          <p:cNvPr id="10" name="J2 block"/>
          <p:cNvSpPr/>
          <p:nvPr/>
        </p:nvSpPr>
        <p:spPr>
          <a:xfrm>
            <a:off x="8001000" y="3765550"/>
            <a:ext cx="1358900" cy="457200"/>
          </a:xfrm>
          <a:prstGeom prst="rect">
            <a:avLst>
              <a:gd name="adj" fmla="val 14000"/>
            </a:avLst>
          </a:prstGeom>
          <a:solidFill>
            <a:srgbClr val="EA580C"/>
          </a:solidFill>
          <a:ln/>
        </p:spPr>
      </p:sp>
      <p:sp>
        <p:nvSpPr>
          <p:cNvPr id="11" name="J3 block"/>
          <p:cNvSpPr/>
          <p:nvPr/>
        </p:nvSpPr>
        <p:spPr>
          <a:xfrm>
            <a:off x="9385300" y="3765550"/>
            <a:ext cx="2044700" cy="457200"/>
          </a:xfrm>
          <a:prstGeom prst="rect">
            <a:avLst>
              <a:gd name="adj" fmla="val 14000"/>
            </a:avLst>
          </a:prstGeom>
          <a:solidFill>
            <a:srgbClr val="FDBA7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89900" y="3765550"/>
            <a:ext cx="1397000" cy="457200"/>
          </a:xfrm>
          <a:prstGeom prst="rect">
            <a:avLst/>
          </a:prstGeom>
          <a:noFill/>
          <a:ln/>
        </p:spPr>
        <p:txBody>
          <a:bodyPr wrap="square" lIns="0" tIns="0" rIns="0" bIns="7620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J2 · 20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474200" y="3765550"/>
            <a:ext cx="1397000" cy="457200"/>
          </a:xfrm>
          <a:prstGeom prst="rect">
            <a:avLst/>
          </a:prstGeom>
          <a:noFill/>
          <a:ln/>
        </p:spPr>
        <p:txBody>
          <a:bodyPr wrap="square" lIns="0" tIns="0" rIns="0" bIns="7620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J3 · 30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001000" y="433705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0/1 Knapsack admits J2 + J3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0033000" y="4337050"/>
            <a:ext cx="139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benefit 220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001000" y="4616450"/>
            <a:ext cx="3429000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01000" y="4730750"/>
            <a:ext cx="3429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J1 · J4 · J5 wait for the next window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62000" y="5638800"/>
            <a:ext cx="10668000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62000" y="5816600"/>
            <a:ext cx="266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Pranay Kumar Reddy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62000" y="608330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25WU0102138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3492500" y="5816600"/>
            <a:ext cx="266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Devi Srikar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3492500" y="608330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25WU0102123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223000" y="5816600"/>
            <a:ext cx="266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Shreenanadh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223000" y="608330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25WU0102119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8382000" y="58166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AI&amp;ML Panthers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382000" y="6083300"/>
            <a:ext cx="304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Prof. Geeta Tripathi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62000" y="5715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THE SCENARIO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62000" y="876300"/>
            <a:ext cx="1066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Software can't cool a CPU. It can choose what the CPU works on.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2032000"/>
            <a:ext cx="5715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compute server receives matrix-processing, analytics and other resource-heavy jobs. When too many expensive jobs run at once, utilisation and temperature rise and the processor throttles.</a:t>
            </a:r>
            <a:endParaRPr lang="en-US" sz="1500" dirty="0"/>
          </a:p>
        </p:txBody>
      </p:sp>
      <p:sp>
        <p:nvSpPr>
          <p:cNvPr id="5" name="Design boundary card"/>
          <p:cNvSpPr/>
          <p:nvPr/>
        </p:nvSpPr>
        <p:spPr>
          <a:xfrm>
            <a:off x="762000" y="4572000"/>
            <a:ext cx="5715000" cy="1270000"/>
          </a:xfrm>
          <a:prstGeom prst="roundRect">
            <a:avLst>
              <a:gd name="adj" fmla="val 5040"/>
            </a:avLst>
          </a:prstGeom>
          <a:solidFill>
            <a:srgbClr val="FFFFFF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5200" y="4749800"/>
            <a:ext cx="533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BOUNDARY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65200" y="4978400"/>
            <a:ext cx="533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model heat as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cost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Cutting avoidable work and choosing a feasible set of jobs reduces thermal pressure. We do not claim to control the hardware.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0" y="2032000"/>
            <a:ext cx="45720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0" y="2247900"/>
            <a:ext cx="381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66000" y="2222500"/>
            <a:ext cx="406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 the right jobs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66000" y="2540000"/>
            <a:ext cx="406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jobs with the most useful output that fit under the thermal budget.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0" y="3302000"/>
            <a:ext cx="45720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0" y="3517900"/>
            <a:ext cx="381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66000" y="3492500"/>
            <a:ext cx="406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less arithmetic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366000" y="3810000"/>
            <a:ext cx="406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result, fewer scalar multiplications, by choosing a better evaluation order.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0" y="4572000"/>
            <a:ext cx="45720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0" y="4787900"/>
            <a:ext cx="381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366000" y="4762500"/>
            <a:ext cx="406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 the rest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366000" y="5080000"/>
            <a:ext cx="406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run queue whose priorities change, and an index of thermal history.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0" y="5842000"/>
            <a:ext cx="45720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00" y="6350000"/>
            <a:ext cx="635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62000" y="5715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PROBLEM ABSTRACTION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62000" y="876300"/>
            <a:ext cx="1066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From server room to DAA model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15240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useful output and minimise work.   </a:t>
            </a:r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Constraint: 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thermal cost of admitted work ≤ W.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032000"/>
          <a:ext cx="10668000" cy="914400"/>
        </p:xfrm>
        <a:graphic>
          <a:graphicData uri="http://schemas.openxmlformats.org/drawingml/2006/table">
            <a:tbl>
              <a:tblPr/>
              <a:tblGrid>
                <a:gridCol w="2476500"/>
                <a:gridCol w="3556000"/>
                <a:gridCol w="1587500"/>
                <a:gridCol w="3048000"/>
              </a:tblGrid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REAL-WORLD ENTITY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MODEL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SIZE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TECHNIQUE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</a:rPr>
                        <a:t>CPU job</a:t>
                      </a:r>
                      <a:endParaRPr lang="en-US" sz="1300" dirty="0"/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item: benefit (value), thermal cost (weight)</a:t>
                      </a:r>
                      <a:endParaRPr lang="en-US" sz="1300" dirty="0"/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 jobs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0/1 or Fractional Knapsack</a:t>
                      </a:r>
                      <a:endParaRPr lang="en-US" sz="1300" dirty="0"/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</a:rPr>
                        <a:t>Thermal headroom</a:t>
                      </a:r>
                      <a:endParaRPr lang="en-US" sz="1300" dirty="0"/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knapsack capacity</a:t>
                      </a:r>
                      <a:endParaRPr lang="en-US" sz="1300" dirty="0"/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 units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Knapsack capacity</a:t>
                      </a:r>
                      <a:endParaRPr lang="en-US" sz="1300" dirty="0"/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</a:rPr>
                        <a:t>Matrix pipeline</a:t>
                      </a:r>
                      <a:endParaRPr lang="en-US" sz="1300" dirty="0"/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chain of dimensions p0 … pn</a:t>
                      </a:r>
                      <a:endParaRPr lang="en-US" sz="1300" dirty="0"/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 matrices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Matrix Chain Multiplication</a:t>
                      </a:r>
                      <a:endParaRPr lang="en-US" sz="1300" dirty="0"/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</a:rPr>
                        <a:t>Run queue</a:t>
                      </a:r>
                      <a:endParaRPr lang="en-US" sz="1300" dirty="0"/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min-priority queue, key = urgency</a:t>
                      </a:r>
                      <a:endParaRPr lang="en-US" sz="1300" dirty="0"/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 jobs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Binomial / Fibonacci Heap</a:t>
                      </a:r>
                      <a:endParaRPr lang="en-US" sz="1300" dirty="0"/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</a:rPr>
                        <a:t>Thermal history</a:t>
                      </a:r>
                      <a:endParaRPr lang="en-US" sz="1300" dirty="0"/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ordered index, key = timestamp</a:t>
                      </a:r>
                      <a:endParaRPr lang="en-US" sz="1300" dirty="0"/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 records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B-Tree</a:t>
                      </a:r>
                      <a:endParaRPr lang="en-US" sz="1300" dirty="0"/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00" y="6350000"/>
            <a:ext cx="635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62000" y="5715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FRAMEWORK ARCHITECTURE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62000" y="876300"/>
            <a:ext cx="1066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One pipeline, rules based on properties of the input</a:t>
            </a:r>
            <a:endParaRPr lang="en-US" sz="3000" dirty="0"/>
          </a:p>
        </p:txBody>
      </p:sp>
      <p:sp>
        <p:nvSpPr>
          <p:cNvPr id="4" name="SCENARIO stage"/>
          <p:cNvSpPr/>
          <p:nvPr/>
        </p:nvSpPr>
        <p:spPr>
          <a:xfrm>
            <a:off x="762000" y="1841500"/>
            <a:ext cx="1549400" cy="825500"/>
          </a:xfrm>
          <a:prstGeom prst="roundRect">
            <a:avLst>
              <a:gd name="adj" fmla="val 7754"/>
            </a:avLst>
          </a:prstGeom>
          <a:solidFill>
            <a:srgbClr val="FFFFFF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9000" y="1968500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89000" y="2197100"/>
            <a:ext cx="1333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file: jobs, budget, conditions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311400" y="209550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MODEL stage"/>
          <p:cNvSpPr/>
          <p:nvPr/>
        </p:nvSpPr>
        <p:spPr>
          <a:xfrm>
            <a:off x="2590800" y="1841500"/>
            <a:ext cx="1549400" cy="825500"/>
          </a:xfrm>
          <a:prstGeom prst="roundRect">
            <a:avLst>
              <a:gd name="adj" fmla="val 7754"/>
            </a:avLst>
          </a:prstGeom>
          <a:solidFill>
            <a:srgbClr val="FFFFFF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17800" y="1968500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717800" y="2197100"/>
            <a:ext cx="1333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items, chain, queue, index; GCD scaling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140200" y="209550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DAA CHOICE stage"/>
          <p:cNvSpPr/>
          <p:nvPr/>
        </p:nvSpPr>
        <p:spPr>
          <a:xfrm>
            <a:off x="4419600" y="1841500"/>
            <a:ext cx="1549400" cy="825500"/>
          </a:xfrm>
          <a:prstGeom prst="roundRect">
            <a:avLst>
              <a:gd name="adj" fmla="val 7754"/>
            </a:avLst>
          </a:prstGeom>
          <a:solidFill>
            <a:srgbClr val="11182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46600" y="1968500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DAA CHOICE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46600" y="2197100"/>
            <a:ext cx="1333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inspect properties, never names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969000" y="209550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EXECUTE stage"/>
          <p:cNvSpPr/>
          <p:nvPr/>
        </p:nvSpPr>
        <p:spPr>
          <a:xfrm>
            <a:off x="6248400" y="1841500"/>
            <a:ext cx="1549400" cy="825500"/>
          </a:xfrm>
          <a:prstGeom prst="roundRect">
            <a:avLst>
              <a:gd name="adj" fmla="val 7754"/>
            </a:avLst>
          </a:prstGeom>
          <a:solidFill>
            <a:srgbClr val="FFFFFF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75400" y="1968500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375400" y="2197100"/>
            <a:ext cx="1333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technique and the rejected one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797800" y="209550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MEASURE stage"/>
          <p:cNvSpPr/>
          <p:nvPr/>
        </p:nvSpPr>
        <p:spPr>
          <a:xfrm>
            <a:off x="8077200" y="1841500"/>
            <a:ext cx="1549400" cy="825500"/>
          </a:xfrm>
          <a:prstGeom prst="roundRect">
            <a:avLst>
              <a:gd name="adj" fmla="val 7754"/>
            </a:avLst>
          </a:prstGeom>
          <a:solidFill>
            <a:srgbClr val="FFFFFF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04200" y="1968500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204200" y="2197100"/>
            <a:ext cx="1333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ops, DP cells, memory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626600" y="209550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EXPLAIN stage"/>
          <p:cNvSpPr/>
          <p:nvPr/>
        </p:nvSpPr>
        <p:spPr>
          <a:xfrm>
            <a:off x="9906000" y="1841500"/>
            <a:ext cx="1549400" cy="825500"/>
          </a:xfrm>
          <a:prstGeom prst="roundRect">
            <a:avLst>
              <a:gd name="adj" fmla="val 7754"/>
            </a:avLst>
          </a:prstGeom>
          <a:solidFill>
            <a:srgbClr val="FFFFFF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33000" y="1968500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0033000" y="2197100"/>
            <a:ext cx="1333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and dashboard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62000" y="3111500"/>
            <a:ext cx="51054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2000" y="3302000"/>
            <a:ext cx="266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 indivisible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429000" y="3302000"/>
            <a:ext cx="243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 Knapsack (DP)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62000" y="3746500"/>
            <a:ext cx="51054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2000" y="3937000"/>
            <a:ext cx="266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 time divisible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429000" y="3937000"/>
            <a:ext cx="243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Knapsack (Greedy)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62000" y="4381500"/>
            <a:ext cx="51054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2000" y="4572000"/>
            <a:ext cx="266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or more matrices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3429000" y="4572000"/>
            <a:ext cx="243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Chain DP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62000" y="5016500"/>
            <a:ext cx="51054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2000" y="5207000"/>
            <a:ext cx="266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fewer than 3 matrices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3429000" y="5207000"/>
            <a:ext cx="243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multiplication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62000" y="5651500"/>
            <a:ext cx="51054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24600" y="3111500"/>
            <a:ext cx="51054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24600" y="3302000"/>
            <a:ext cx="266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 boosted to the front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991600" y="3302000"/>
            <a:ext cx="243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 Heap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324600" y="3746500"/>
            <a:ext cx="51054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324600" y="3937000"/>
            <a:ext cx="266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or small priority changes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8991600" y="3937000"/>
            <a:ext cx="243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Binomial Heap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324600" y="4381500"/>
            <a:ext cx="51054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324600" y="4572000"/>
            <a:ext cx="266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costs share a GCD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8991600" y="4572000"/>
            <a:ext cx="243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 down, same answer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324600" y="5016500"/>
            <a:ext cx="51054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324600" y="5207000"/>
            <a:ext cx="266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time-ordered telemetry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8991600" y="5207000"/>
            <a:ext cx="243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B-Tree index (t = 3)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324600" y="5651500"/>
            <a:ext cx="51054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00" y="6350000"/>
            <a:ext cx="635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62000" y="5715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MODULES 1 + 2 · JOB ADMISSION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62000" y="876300"/>
            <a:ext cx="1066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Same five jobs, same budget of 50. Can a job be split?</a:t>
            </a:r>
            <a:endParaRPr lang="en-US" sz="3000" dirty="0"/>
          </a:p>
        </p:txBody>
      </p:sp>
      <p:sp>
        <p:nvSpPr>
          <p:cNvPr id="4" name="0/1 Knapsack · Dynamic Programming card"/>
          <p:cNvSpPr/>
          <p:nvPr/>
        </p:nvSpPr>
        <p:spPr>
          <a:xfrm>
            <a:off x="762000" y="1714500"/>
            <a:ext cx="5207000" cy="4064000"/>
          </a:xfrm>
          <a:prstGeom prst="roundRect">
            <a:avLst>
              <a:gd name="adj" fmla="val 1575"/>
            </a:avLst>
          </a:prstGeom>
          <a:solidFill>
            <a:srgbClr val="FFFFFF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6000" y="1968500"/>
            <a:ext cx="330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· JOBS ARE INDIVISIBLE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318000" y="1854200"/>
            <a:ext cx="1397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016000" y="2336800"/>
            <a:ext cx="469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 Knapsack · Dynamic Programming</a:t>
            </a:r>
            <a:endParaRPr lang="en-US" sz="1800" dirty="0"/>
          </a:p>
        </p:txBody>
      </p:sp>
      <p:sp>
        <p:nvSpPr>
          <p:cNvPr id="8" name="J2 · 20"/>
          <p:cNvSpPr/>
          <p:nvPr/>
        </p:nvSpPr>
        <p:spPr>
          <a:xfrm>
            <a:off x="1016000" y="2794000"/>
            <a:ext cx="1854200" cy="406400"/>
          </a:xfrm>
          <a:prstGeom prst="rect">
            <a:avLst>
              <a:gd name="adj" fmla="val 15750"/>
            </a:avLst>
          </a:prstGeom>
          <a:solidFill>
            <a:srgbClr val="C2410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04900" y="2794000"/>
            <a:ext cx="1727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J2 · 20</a:t>
            </a:r>
            <a:endParaRPr lang="en-US" sz="1000" dirty="0"/>
          </a:p>
        </p:txBody>
      </p:sp>
      <p:sp>
        <p:nvSpPr>
          <p:cNvPr id="10" name="J3 · 30"/>
          <p:cNvSpPr/>
          <p:nvPr/>
        </p:nvSpPr>
        <p:spPr>
          <a:xfrm>
            <a:off x="2895600" y="2794000"/>
            <a:ext cx="2794000" cy="406400"/>
          </a:xfrm>
          <a:prstGeom prst="rect">
            <a:avLst>
              <a:gd name="adj" fmla="val 15750"/>
            </a:avLst>
          </a:prstGeom>
          <a:solidFill>
            <a:srgbClr val="FDBA7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84500" y="2794000"/>
            <a:ext cx="2667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J3 · 30</a:t>
            </a:r>
            <a:endParaRPr lang="en-US" sz="1000" dirty="0"/>
          </a:p>
        </p:txBody>
      </p:sp>
      <p:sp>
        <p:nvSpPr>
          <p:cNvPr id="12" name="Formula"/>
          <p:cNvSpPr/>
          <p:nvPr/>
        </p:nvSpPr>
        <p:spPr>
          <a:xfrm>
            <a:off x="1016000" y="3365500"/>
            <a:ext cx="4699000" cy="698500"/>
          </a:xfrm>
          <a:prstGeom prst="roundRect">
            <a:avLst>
              <a:gd name="adj" fmla="val 6545"/>
            </a:avLst>
          </a:prstGeom>
          <a:solidFill>
            <a:srgbClr val="F4F5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3479800"/>
            <a:ext cx="444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dp[i][w] = max(dp[i−1][w],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dp[i−1][w−cᵢ] + bᵢ)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16000" y="4254500"/>
            <a:ext cx="4699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O(n·W)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time and space. Pseudo-polynomial: cost grows with the value of W.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16000" y="4889500"/>
            <a:ext cx="469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by ratio would admit J1 + J2 + J5 and get only 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6" name="Fractional Knapsack · Greedy card"/>
          <p:cNvSpPr/>
          <p:nvPr/>
        </p:nvSpPr>
        <p:spPr>
          <a:xfrm>
            <a:off x="6223000" y="1714500"/>
            <a:ext cx="5207000" cy="4064000"/>
          </a:xfrm>
          <a:prstGeom prst="roundRect">
            <a:avLst>
              <a:gd name="adj" fmla="val 1575"/>
            </a:avLst>
          </a:prstGeom>
          <a:solidFill>
            <a:srgbClr val="FFFFFF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77000" y="1968500"/>
            <a:ext cx="330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· CPU TIME IS DIVISIBLE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779000" y="1854200"/>
            <a:ext cx="1397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6477000" y="2336800"/>
            <a:ext cx="469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Knapsack · Greedy</a:t>
            </a:r>
            <a:endParaRPr lang="en-US" sz="1800" dirty="0"/>
          </a:p>
        </p:txBody>
      </p:sp>
      <p:sp>
        <p:nvSpPr>
          <p:cNvPr id="20" name="J1"/>
          <p:cNvSpPr/>
          <p:nvPr/>
        </p:nvSpPr>
        <p:spPr>
          <a:xfrm>
            <a:off x="6477000" y="2794000"/>
            <a:ext cx="914400" cy="406400"/>
          </a:xfrm>
          <a:prstGeom prst="rect">
            <a:avLst>
              <a:gd name="adj" fmla="val 15750"/>
            </a:avLst>
          </a:prstGeom>
          <a:solidFill>
            <a:srgbClr val="1D4ED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65900" y="2794000"/>
            <a:ext cx="787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J1</a:t>
            </a:r>
            <a:endParaRPr lang="en-US" sz="1000" dirty="0"/>
          </a:p>
        </p:txBody>
      </p:sp>
      <p:sp>
        <p:nvSpPr>
          <p:cNvPr id="22" name="J2 · 20"/>
          <p:cNvSpPr/>
          <p:nvPr/>
        </p:nvSpPr>
        <p:spPr>
          <a:xfrm>
            <a:off x="7416800" y="2794000"/>
            <a:ext cx="1854200" cy="406400"/>
          </a:xfrm>
          <a:prstGeom prst="rect">
            <a:avLst>
              <a:gd name="adj" fmla="val 15750"/>
            </a:avLst>
          </a:prstGeom>
          <a:solidFill>
            <a:srgbClr val="93C5F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505700" y="2794000"/>
            <a:ext cx="1727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J2 · 20</a:t>
            </a:r>
            <a:endParaRPr lang="en-US" sz="1000" dirty="0"/>
          </a:p>
        </p:txBody>
      </p:sp>
      <p:sp>
        <p:nvSpPr>
          <p:cNvPr id="24" name="⅔ of J3 · 20"/>
          <p:cNvSpPr/>
          <p:nvPr/>
        </p:nvSpPr>
        <p:spPr>
          <a:xfrm>
            <a:off x="9296400" y="2794000"/>
            <a:ext cx="1854200" cy="406400"/>
          </a:xfrm>
          <a:prstGeom prst="rect">
            <a:avLst>
              <a:gd name="adj" fmla="val 15750"/>
            </a:avLst>
          </a:prstGeom>
          <a:solidFill>
            <a:srgbClr val="DBEAF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385300" y="2794000"/>
            <a:ext cx="1727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⅔ of J3 · 20</a:t>
            </a:r>
            <a:endParaRPr lang="en-US" sz="1000" dirty="0"/>
          </a:p>
        </p:txBody>
      </p:sp>
      <p:sp>
        <p:nvSpPr>
          <p:cNvPr id="26" name="Formula"/>
          <p:cNvSpPr/>
          <p:nvPr/>
        </p:nvSpPr>
        <p:spPr>
          <a:xfrm>
            <a:off x="6477000" y="3365500"/>
            <a:ext cx="4699000" cy="698500"/>
          </a:xfrm>
          <a:prstGeom prst="roundRect">
            <a:avLst>
              <a:gd name="adj" fmla="val 6545"/>
            </a:avLst>
          </a:prstGeom>
          <a:solidFill>
            <a:srgbClr val="F4F5F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604000" y="3479800"/>
            <a:ext cx="444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 by benefit / cost: 6.0, 5.0, 4.0, 3.6, 2.0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 whole jobs, then a fraction of the next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477000" y="4254500"/>
            <a:ext cx="4699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time, O(n) space. Sorting dominates.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477000" y="4889500"/>
            <a:ext cx="469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by the greedy-choice property: the best ratio is always worth taking first.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62000" y="593725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300 random 40-job instances, greedy was wrong for indivisible jobs </a:t>
            </a:r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61.7%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time.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00" y="6350000"/>
            <a:ext cx="635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62000" y="5715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MODULE 3 · COMPUTATION REDUCTION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62000" y="876300"/>
            <a:ext cx="1066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Same answer, half the arithmetic</a:t>
            </a:r>
            <a:endParaRPr lang="en-US" sz="3000" dirty="0"/>
          </a:p>
        </p:txBody>
      </p:sp>
      <p:sp>
        <p:nvSpPr>
          <p:cNvPr id="4" name="Race card"/>
          <p:cNvSpPr/>
          <p:nvPr/>
        </p:nvSpPr>
        <p:spPr>
          <a:xfrm>
            <a:off x="762000" y="1714500"/>
            <a:ext cx="5715000" cy="4318000"/>
          </a:xfrm>
          <a:prstGeom prst="roundRect">
            <a:avLst>
              <a:gd name="adj" fmla="val 1482"/>
            </a:avLst>
          </a:prstGeom>
          <a:solidFill>
            <a:srgbClr val="FFFFFF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6000" y="1943100"/>
            <a:ext cx="520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 (10×30) · A2 (30×5) · A3 (5×60) · A4 (60×10)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6000" y="241300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to right  ((A1A2)A3)A4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826000" y="2413000"/>
            <a:ext cx="139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10,500</a:t>
            </a:r>
            <a:endParaRPr lang="en-US" sz="1200" dirty="0"/>
          </a:p>
        </p:txBody>
      </p:sp>
      <p:sp>
        <p:nvSpPr>
          <p:cNvPr id="8" name="Track"/>
          <p:cNvSpPr/>
          <p:nvPr/>
        </p:nvSpPr>
        <p:spPr>
          <a:xfrm>
            <a:off x="1016000" y="2692400"/>
            <a:ext cx="5207000" cy="177800"/>
          </a:xfrm>
          <a:prstGeom prst="roundRect">
            <a:avLst>
              <a:gd name="adj" fmla="val 20571"/>
            </a:avLst>
          </a:prstGeom>
          <a:solidFill>
            <a:srgbClr val="EEF0F3"/>
          </a:solidFill>
          <a:ln/>
        </p:spPr>
      </p:sp>
      <p:sp>
        <p:nvSpPr>
          <p:cNvPr id="9" name="Fill 10,500"/>
          <p:cNvSpPr/>
          <p:nvPr/>
        </p:nvSpPr>
        <p:spPr>
          <a:xfrm>
            <a:off x="1016000" y="2692400"/>
            <a:ext cx="5207000" cy="177800"/>
          </a:xfrm>
          <a:prstGeom prst="roundRect">
            <a:avLst>
              <a:gd name="adj" fmla="val 20571"/>
            </a:avLst>
          </a:prstGeom>
          <a:solidFill>
            <a:srgbClr val="9CA3A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16000" y="311150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optimal  (A1A2)(A3A4)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26000" y="3111500"/>
            <a:ext cx="139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5,000</a:t>
            </a:r>
            <a:endParaRPr lang="en-US" sz="1200" dirty="0"/>
          </a:p>
        </p:txBody>
      </p:sp>
      <p:sp>
        <p:nvSpPr>
          <p:cNvPr id="12" name="Track"/>
          <p:cNvSpPr/>
          <p:nvPr/>
        </p:nvSpPr>
        <p:spPr>
          <a:xfrm>
            <a:off x="1016000" y="3390900"/>
            <a:ext cx="5207000" cy="177800"/>
          </a:xfrm>
          <a:prstGeom prst="roundRect">
            <a:avLst>
              <a:gd name="adj" fmla="val 20571"/>
            </a:avLst>
          </a:prstGeom>
          <a:solidFill>
            <a:srgbClr val="EEF0F3"/>
          </a:solidFill>
          <a:ln/>
        </p:spPr>
      </p:sp>
      <p:sp>
        <p:nvSpPr>
          <p:cNvPr id="13" name="Fill 5,000"/>
          <p:cNvSpPr/>
          <p:nvPr/>
        </p:nvSpPr>
        <p:spPr>
          <a:xfrm>
            <a:off x="1016000" y="3390900"/>
            <a:ext cx="2479524" cy="177800"/>
          </a:xfrm>
          <a:prstGeom prst="roundRect">
            <a:avLst>
              <a:gd name="adj" fmla="val 20571"/>
            </a:avLst>
          </a:prstGeom>
          <a:solidFill>
            <a:srgbClr val="1D4ED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6000" y="3937000"/>
            <a:ext cx="5207000" cy="0"/>
          </a:xfrm>
          <a:prstGeom prst="line">
            <a:avLst/>
          </a:prstGeom>
          <a:noFill/>
          <a:ln w="9525">
            <a:solidFill>
              <a:srgbClr val="EEF0F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16000" y="406400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52.4%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2921000" y="4191000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scalar multiplications, our proxy for CPU work and heat</a:t>
            </a:r>
            <a:endParaRPr lang="en-US" sz="1200" dirty="0"/>
          </a:p>
        </p:txBody>
      </p:sp>
      <p:sp>
        <p:nvSpPr>
          <p:cNvPr id="17" name="Recurrence"/>
          <p:cNvSpPr/>
          <p:nvPr/>
        </p:nvSpPr>
        <p:spPr>
          <a:xfrm>
            <a:off x="1016000" y="4889500"/>
            <a:ext cx="5207000" cy="635000"/>
          </a:xfrm>
          <a:prstGeom prst="roundRect">
            <a:avLst>
              <a:gd name="adj" fmla="val 7200"/>
            </a:avLst>
          </a:prstGeom>
          <a:solidFill>
            <a:srgbClr val="F4F5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43000" y="4889500"/>
            <a:ext cx="495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m[i][j] = min over k of m[i][k] + m[k+1][j] + p(i−1)·p(k)·p(j)</a:t>
            </a:r>
            <a:endParaRPr lang="en-US" sz="1050" dirty="0"/>
          </a:p>
        </p:txBody>
      </p:sp>
      <p:sp>
        <p:nvSpPr>
          <p:cNvPr id="19" name="Scaling card"/>
          <p:cNvSpPr/>
          <p:nvPr/>
        </p:nvSpPr>
        <p:spPr>
          <a:xfrm>
            <a:off x="6731000" y="1714500"/>
            <a:ext cx="4699000" cy="4318000"/>
          </a:xfrm>
          <a:prstGeom prst="roundRect">
            <a:avLst>
              <a:gd name="adj" fmla="val 1482"/>
            </a:avLst>
          </a:prstGeom>
          <a:solidFill>
            <a:srgbClr val="FFFFFF"/>
          </a:solidFill>
          <a:ln w="9525">
            <a:solidFill>
              <a:srgbClr val="D5DAE1"/>
            </a:solidFill>
            <a:prstDash val="solid"/>
          </a:ln>
        </p:spPr>
      </p:sp>
      <p:graphicFrame>
        <p:nvGraphicFramePr>
          <p:cNvPr id="20" name="Chart 0" descr=""/>
          <p:cNvGraphicFramePr/>
          <p:nvPr/>
        </p:nvGraphicFramePr>
        <p:xfrm>
          <a:off x="6921500" y="1841500"/>
          <a:ext cx="4318000" cy="355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6985000" y="5524500"/>
            <a:ext cx="431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O(n³) time, O(n²) space. 160 matrices take about 90 ms.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00" y="6350000"/>
            <a:ext cx="635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62000" y="5715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MODULE 4 · DYNAMIC JOB PRIORITY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62000" y="876300"/>
            <a:ext cx="1066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O(1) decrease-key only pays off when jobs jump the queue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14500"/>
          <a:ext cx="4445000" cy="914400"/>
        </p:xfrm>
        <a:graphic>
          <a:graphicData uri="http://schemas.openxmlformats.org/drawingml/2006/table">
            <a:tbl>
              <a:tblPr/>
              <a:tblGrid>
                <a:gridCol w="1651000"/>
                <a:gridCol w="1397000"/>
                <a:gridCol w="1397000"/>
              </a:tblGrid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OPERATION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BINOMIAL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FIBONACCI*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insert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O(log n)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decrease-key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O(log n)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4E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extract-min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O(log n)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O(log n)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union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O(log n)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62000" y="3810000"/>
            <a:ext cx="444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amortized. Binomial bounds are worst case.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62000" y="4127500"/>
            <a:ext cx="444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 job jumps to the front): Binomial bubbles the key up the whole tree. Fibonacci cuts one node. 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 fewer operations.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62000" y="4953000"/>
            <a:ext cx="444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nudge or no change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Binomial stops after about one comparison, and Fibonacci's bookkeeping costs more.</a:t>
            </a:r>
            <a:endParaRPr lang="en-US" sz="1200" dirty="0"/>
          </a:p>
        </p:txBody>
      </p:sp>
      <p:sp>
        <p:nvSpPr>
          <p:cNvPr id="8" name="Heap chart card"/>
          <p:cNvSpPr/>
          <p:nvPr/>
        </p:nvSpPr>
        <p:spPr>
          <a:xfrm>
            <a:off x="5461000" y="1714500"/>
            <a:ext cx="5969000" cy="4318000"/>
          </a:xfrm>
          <a:prstGeom prst="roundRect">
            <a:avLst>
              <a:gd name="adj" fmla="val 1482"/>
            </a:avLst>
          </a:prstGeom>
          <a:solidFill>
            <a:srgbClr val="FFFFFF"/>
          </a:solidFill>
          <a:ln w="9525">
            <a:solidFill>
              <a:srgbClr val="D5DAE1"/>
            </a:solidFill>
            <a:prstDash val="solid"/>
          </a:ln>
        </p:spPr>
      </p:sp>
      <p:graphicFrame>
        <p:nvGraphicFramePr>
          <p:cNvPr id="9" name="Chart 0" descr=""/>
          <p:cNvGraphicFramePr/>
          <p:nvPr/>
        </p:nvGraphicFramePr>
        <p:xfrm>
          <a:off x="5651500" y="1841500"/>
          <a:ext cx="5588000" cy="406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00" y="6350000"/>
            <a:ext cx="635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62000" y="5715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MODULE 5 · TELEMETRY INDEX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62000" y="876300"/>
            <a:ext cx="1066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B-Tree, because of the shape of the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714500"/>
            <a:ext cx="40640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2000" y="1879600"/>
            <a:ext cx="35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68400" y="1854200"/>
            <a:ext cx="365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keys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68400" y="2146300"/>
            <a:ext cx="3657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are keyed by timestamp and arrive in time order.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62000" y="2762250"/>
            <a:ext cx="40640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2000" y="2927350"/>
            <a:ext cx="35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68400" y="2901950"/>
            <a:ext cx="365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queries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68400" y="3194050"/>
            <a:ext cx="3657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“Last 10 minutes” needs sorted order. A hash table cannot answer it.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2000" y="3810000"/>
            <a:ext cx="40640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2000" y="3975100"/>
            <a:ext cx="35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168400" y="3949700"/>
            <a:ext cx="365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Wide, shallow nodes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68400" y="4241800"/>
            <a:ext cx="3657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to 5 keys per node, so few block reads for a log stored on disk.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2000" y="4857750"/>
            <a:ext cx="40640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2000" y="5022850"/>
            <a:ext cx="35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168400" y="4997450"/>
            <a:ext cx="365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68400" y="5289550"/>
            <a:ext cx="3657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is never edited, so deletion is not needed.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2000" y="5905500"/>
            <a:ext cx="40640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21" name="B-Tree card"/>
          <p:cNvSpPr/>
          <p:nvPr/>
        </p:nvSpPr>
        <p:spPr>
          <a:xfrm>
            <a:off x="5080000" y="1714500"/>
            <a:ext cx="6350000" cy="4318000"/>
          </a:xfrm>
          <a:prstGeom prst="roundRect">
            <a:avLst>
              <a:gd name="adj" fmla="val 1482"/>
            </a:avLst>
          </a:prstGeom>
          <a:solidFill>
            <a:srgbClr val="FFFFFF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34000" y="1905000"/>
            <a:ext cx="317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readings, t = 3</a:t>
            </a:r>
            <a:endParaRPr lang="en-US" sz="1400" dirty="0"/>
          </a:p>
        </p:txBody>
      </p:sp>
      <p:sp>
        <p:nvSpPr>
          <p:cNvPr id="23" name="search key"/>
          <p:cNvSpPr/>
          <p:nvPr/>
        </p:nvSpPr>
        <p:spPr>
          <a:xfrm>
            <a:off x="9144000" y="1993900"/>
            <a:ext cx="88900" cy="88900"/>
          </a:xfrm>
          <a:prstGeom prst="rect">
            <a:avLst>
              <a:gd name="adj" fmla="val 10286"/>
            </a:avLst>
          </a:prstGeom>
          <a:solidFill>
            <a:srgbClr val="2A78D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83700" y="1943100"/>
            <a:ext cx="88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000" dirty="0"/>
          </a:p>
        </p:txBody>
      </p:sp>
      <p:sp>
        <p:nvSpPr>
          <p:cNvPr id="25" name="range scan key"/>
          <p:cNvSpPr/>
          <p:nvPr/>
        </p:nvSpPr>
        <p:spPr>
          <a:xfrm>
            <a:off x="10223500" y="1993900"/>
            <a:ext cx="88900" cy="88900"/>
          </a:xfrm>
          <a:prstGeom prst="rect">
            <a:avLst>
              <a:gd name="adj" fmla="val 10286"/>
            </a:avLst>
          </a:prstGeom>
          <a:solidFill>
            <a:srgbClr val="EB683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363200" y="1943100"/>
            <a:ext cx="88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scan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 flipH="1">
            <a:off x="6307667" y="2489200"/>
            <a:ext cx="1947333" cy="36830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55000" y="2489200"/>
            <a:ext cx="0" cy="36830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55000" y="2489200"/>
            <a:ext cx="1947333" cy="36830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>
            <a:off x="5658556" y="2997200"/>
            <a:ext cx="649111" cy="36830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07667" y="2997200"/>
            <a:ext cx="0" cy="36830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7667" y="2997200"/>
            <a:ext cx="649111" cy="36830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H="1">
            <a:off x="7605889" y="2997200"/>
            <a:ext cx="649111" cy="36830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55000" y="2997200"/>
            <a:ext cx="0" cy="36830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55000" y="2997200"/>
            <a:ext cx="649111" cy="36830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H="1">
            <a:off x="9553222" y="2997200"/>
            <a:ext cx="649111" cy="36830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202333" y="2997200"/>
            <a:ext cx="0" cy="36830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202333" y="2997200"/>
            <a:ext cx="649111" cy="36830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39" name="Node L0-0"/>
          <p:cNvSpPr/>
          <p:nvPr/>
        </p:nvSpPr>
        <p:spPr>
          <a:xfrm>
            <a:off x="7988300" y="2349500"/>
            <a:ext cx="533400" cy="139700"/>
          </a:xfrm>
          <a:prstGeom prst="roundRect">
            <a:avLst>
              <a:gd name="adj" fmla="val 19636"/>
            </a:avLst>
          </a:prstGeom>
          <a:solidFill>
            <a:srgbClr val="2A78D6"/>
          </a:solidFill>
          <a:ln/>
        </p:spPr>
      </p:sp>
      <p:sp>
        <p:nvSpPr>
          <p:cNvPr id="40" name="Node L1-0"/>
          <p:cNvSpPr/>
          <p:nvPr/>
        </p:nvSpPr>
        <p:spPr>
          <a:xfrm>
            <a:off x="6040967" y="2857500"/>
            <a:ext cx="533400" cy="139700"/>
          </a:xfrm>
          <a:prstGeom prst="roundRect">
            <a:avLst>
              <a:gd name="adj" fmla="val 19636"/>
            </a:avLst>
          </a:prstGeom>
          <a:solidFill>
            <a:srgbClr val="2A78D6"/>
          </a:solidFill>
          <a:ln/>
        </p:spPr>
      </p:sp>
      <p:sp>
        <p:nvSpPr>
          <p:cNvPr id="41" name="Node L1-1"/>
          <p:cNvSpPr/>
          <p:nvPr/>
        </p:nvSpPr>
        <p:spPr>
          <a:xfrm>
            <a:off x="7988300" y="2857500"/>
            <a:ext cx="533400" cy="139700"/>
          </a:xfrm>
          <a:prstGeom prst="roundRect">
            <a:avLst>
              <a:gd name="adj" fmla="val 19636"/>
            </a:avLst>
          </a:prstGeom>
          <a:solidFill>
            <a:srgbClr val="E5E7EB"/>
          </a:solidFill>
          <a:ln/>
        </p:spPr>
      </p:sp>
      <p:sp>
        <p:nvSpPr>
          <p:cNvPr id="42" name="Node L1-2"/>
          <p:cNvSpPr/>
          <p:nvPr/>
        </p:nvSpPr>
        <p:spPr>
          <a:xfrm>
            <a:off x="9935633" y="2857500"/>
            <a:ext cx="533400" cy="139700"/>
          </a:xfrm>
          <a:prstGeom prst="roundRect">
            <a:avLst>
              <a:gd name="adj" fmla="val 19636"/>
            </a:avLst>
          </a:prstGeom>
          <a:solidFill>
            <a:srgbClr val="E5E7EB"/>
          </a:solidFill>
          <a:ln/>
        </p:spPr>
      </p:sp>
      <p:sp>
        <p:nvSpPr>
          <p:cNvPr id="43" name="Node L2-0"/>
          <p:cNvSpPr/>
          <p:nvPr/>
        </p:nvSpPr>
        <p:spPr>
          <a:xfrm>
            <a:off x="5493456" y="3365500"/>
            <a:ext cx="330200" cy="139700"/>
          </a:xfrm>
          <a:prstGeom prst="roundRect">
            <a:avLst>
              <a:gd name="adj" fmla="val 19636"/>
            </a:avLst>
          </a:prstGeom>
          <a:solidFill>
            <a:srgbClr val="E5E7EB"/>
          </a:solidFill>
          <a:ln/>
        </p:spPr>
      </p:sp>
      <p:sp>
        <p:nvSpPr>
          <p:cNvPr id="44" name="Node L2-1"/>
          <p:cNvSpPr/>
          <p:nvPr/>
        </p:nvSpPr>
        <p:spPr>
          <a:xfrm>
            <a:off x="6142567" y="3365500"/>
            <a:ext cx="330200" cy="139700"/>
          </a:xfrm>
          <a:prstGeom prst="roundRect">
            <a:avLst>
              <a:gd name="adj" fmla="val 19636"/>
            </a:avLst>
          </a:prstGeom>
          <a:solidFill>
            <a:srgbClr val="E5E7EB"/>
          </a:solidFill>
          <a:ln/>
        </p:spPr>
      </p:sp>
      <p:sp>
        <p:nvSpPr>
          <p:cNvPr id="45" name="Node L2-2"/>
          <p:cNvSpPr/>
          <p:nvPr/>
        </p:nvSpPr>
        <p:spPr>
          <a:xfrm>
            <a:off x="6791678" y="3365500"/>
            <a:ext cx="330200" cy="139700"/>
          </a:xfrm>
          <a:prstGeom prst="roundRect">
            <a:avLst>
              <a:gd name="adj" fmla="val 19636"/>
            </a:avLst>
          </a:prstGeom>
          <a:solidFill>
            <a:srgbClr val="2A78D6"/>
          </a:solidFill>
          <a:ln/>
        </p:spPr>
      </p:sp>
      <p:sp>
        <p:nvSpPr>
          <p:cNvPr id="46" name="Node L2-3"/>
          <p:cNvSpPr/>
          <p:nvPr/>
        </p:nvSpPr>
        <p:spPr>
          <a:xfrm>
            <a:off x="7440789" y="3365500"/>
            <a:ext cx="330200" cy="139700"/>
          </a:xfrm>
          <a:prstGeom prst="roundRect">
            <a:avLst>
              <a:gd name="adj" fmla="val 19636"/>
            </a:avLst>
          </a:prstGeom>
          <a:solidFill>
            <a:srgbClr val="EB6834"/>
          </a:solidFill>
          <a:ln/>
        </p:spPr>
      </p:sp>
      <p:sp>
        <p:nvSpPr>
          <p:cNvPr id="47" name="Node L2-4"/>
          <p:cNvSpPr/>
          <p:nvPr/>
        </p:nvSpPr>
        <p:spPr>
          <a:xfrm>
            <a:off x="8089900" y="3365500"/>
            <a:ext cx="330200" cy="139700"/>
          </a:xfrm>
          <a:prstGeom prst="roundRect">
            <a:avLst>
              <a:gd name="adj" fmla="val 19636"/>
            </a:avLst>
          </a:prstGeom>
          <a:solidFill>
            <a:srgbClr val="EB6834"/>
          </a:solidFill>
          <a:ln/>
        </p:spPr>
      </p:sp>
      <p:sp>
        <p:nvSpPr>
          <p:cNvPr id="48" name="Node L2-5"/>
          <p:cNvSpPr/>
          <p:nvPr/>
        </p:nvSpPr>
        <p:spPr>
          <a:xfrm>
            <a:off x="8739011" y="3365500"/>
            <a:ext cx="330200" cy="139700"/>
          </a:xfrm>
          <a:prstGeom prst="roundRect">
            <a:avLst>
              <a:gd name="adj" fmla="val 19636"/>
            </a:avLst>
          </a:prstGeom>
          <a:solidFill>
            <a:srgbClr val="EB6834"/>
          </a:solidFill>
          <a:ln/>
        </p:spPr>
      </p:sp>
      <p:sp>
        <p:nvSpPr>
          <p:cNvPr id="49" name="Node L2-6"/>
          <p:cNvSpPr/>
          <p:nvPr/>
        </p:nvSpPr>
        <p:spPr>
          <a:xfrm>
            <a:off x="9388122" y="3365500"/>
            <a:ext cx="330200" cy="139700"/>
          </a:xfrm>
          <a:prstGeom prst="roundRect">
            <a:avLst>
              <a:gd name="adj" fmla="val 19636"/>
            </a:avLst>
          </a:prstGeom>
          <a:solidFill>
            <a:srgbClr val="E5E7EB"/>
          </a:solidFill>
          <a:ln/>
        </p:spPr>
      </p:sp>
      <p:sp>
        <p:nvSpPr>
          <p:cNvPr id="50" name="Node L2-7"/>
          <p:cNvSpPr/>
          <p:nvPr/>
        </p:nvSpPr>
        <p:spPr>
          <a:xfrm>
            <a:off x="10037233" y="3365500"/>
            <a:ext cx="330200" cy="139700"/>
          </a:xfrm>
          <a:prstGeom prst="roundRect">
            <a:avLst>
              <a:gd name="adj" fmla="val 19636"/>
            </a:avLst>
          </a:prstGeom>
          <a:solidFill>
            <a:srgbClr val="E5E7EB"/>
          </a:solidFill>
          <a:ln/>
        </p:spPr>
      </p:sp>
      <p:sp>
        <p:nvSpPr>
          <p:cNvPr id="51" name="Node L2-8"/>
          <p:cNvSpPr/>
          <p:nvPr/>
        </p:nvSpPr>
        <p:spPr>
          <a:xfrm>
            <a:off x="10686344" y="3365500"/>
            <a:ext cx="330200" cy="139700"/>
          </a:xfrm>
          <a:prstGeom prst="roundRect">
            <a:avLst>
              <a:gd name="adj" fmla="val 19636"/>
            </a:avLst>
          </a:prstGeom>
          <a:solidFill>
            <a:srgbClr val="E5E7EB"/>
          </a:solidFill>
          <a:ln/>
        </p:spPr>
      </p:sp>
      <p:sp>
        <p:nvSpPr>
          <p:cNvPr id="52" name="Shape 50"/>
          <p:cNvSpPr/>
          <p:nvPr/>
        </p:nvSpPr>
        <p:spPr>
          <a:xfrm>
            <a:off x="5334000" y="3810000"/>
            <a:ext cx="5842000" cy="0"/>
          </a:xfrm>
          <a:prstGeom prst="line">
            <a:avLst/>
          </a:prstGeom>
          <a:noFill/>
          <a:ln w="9525">
            <a:solidFill>
              <a:srgbClr val="EEF0F3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334000" y="3975100"/>
            <a:ext cx="1397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54" name="Text 52"/>
          <p:cNvSpPr txBox="1"/>
          <p:nvPr/>
        </p:nvSpPr>
        <p:spPr>
          <a:xfrm>
            <a:off x="5334000" y="4445000"/>
            <a:ext cx="139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(bound 10.2)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6794500" y="3975100"/>
            <a:ext cx="1397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</a:t>
            </a:r>
            <a:endParaRPr lang="en-US" sz="2200" dirty="0"/>
          </a:p>
        </p:txBody>
      </p:sp>
      <p:sp>
        <p:nvSpPr>
          <p:cNvPr id="56" name="Text 54"/>
          <p:cNvSpPr txBox="1"/>
          <p:nvPr/>
        </p:nvSpPr>
        <p:spPr>
          <a:xfrm>
            <a:off x="6794500" y="4445000"/>
            <a:ext cx="139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/ search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8255000" y="3975100"/>
            <a:ext cx="1397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18.9</a:t>
            </a:r>
            <a:endParaRPr lang="en-US" sz="2200" dirty="0"/>
          </a:p>
        </p:txBody>
      </p:sp>
      <p:sp>
        <p:nvSpPr>
          <p:cNvPr id="58" name="Text 56"/>
          <p:cNvSpPr txBox="1"/>
          <p:nvPr/>
        </p:nvSpPr>
        <p:spPr>
          <a:xfrm>
            <a:off x="8255000" y="4445000"/>
            <a:ext cx="139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9715500" y="3975100"/>
            <a:ext cx="1397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2200" dirty="0"/>
          </a:p>
        </p:txBody>
      </p:sp>
      <p:sp>
        <p:nvSpPr>
          <p:cNvPr id="60" name="Text 58"/>
          <p:cNvSpPr txBox="1"/>
          <p:nvPr/>
        </p:nvSpPr>
        <p:spPr>
          <a:xfrm>
            <a:off x="9715500" y="4445000"/>
            <a:ext cx="139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readings, last 10 min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5334000" y="4953000"/>
            <a:ext cx="584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grow 6 → 8 → 10 as readings grow 1k → 10k → 50k: O(t·log_t n) search and insert, O(t·log_t n + k) range query.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00" y="6350000"/>
            <a:ext cx="635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62000" y="5715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· ADAPTATION AND SCALABILITY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62000" y="876300"/>
            <a:ext cx="1066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Change the conditions, and the framework changes its choice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14500"/>
          <a:ext cx="6350000" cy="914400"/>
        </p:xfrm>
        <a:graphic>
          <a:graphicData uri="http://schemas.openxmlformats.org/drawingml/2006/table">
            <a:tbl>
              <a:tblPr/>
              <a:tblGrid>
                <a:gridCol w="1524000"/>
                <a:gridCol w="2413000"/>
                <a:gridCol w="2413000"/>
              </a:tblGrid>
              <a:tr h="749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MODULE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PEAK HOURS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NIGHT BATCH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Admission</a:t>
                      </a:r>
                      <a:endParaRPr lang="en-US" sz="11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0/1 Knapsack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indivisible · benefit 220</a:t>
                      </a:r>
                      <a:endParaRPr lang="en-US" sz="12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Fractional Knapsack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divisible · benefit 240</a:t>
                      </a:r>
                      <a:endParaRPr lang="en-US" sz="12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Computation</a:t>
                      </a:r>
                      <a:endParaRPr lang="en-US" sz="11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Matrix Chain DP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 matrices · −52.4% work</a:t>
                      </a:r>
                      <a:endParaRPr lang="en-US" sz="12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Direct multiply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matrices · one order</a:t>
                      </a:r>
                      <a:endParaRPr lang="en-US" sz="12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Run queue</a:t>
                      </a:r>
                      <a:endParaRPr lang="en-US" sz="11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Fibonacci Heap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boosts · 117k vs 217k ops</a:t>
                      </a:r>
                      <a:endParaRPr lang="en-US" sz="12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Binomial Heap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static · 172k vs 235k ops</a:t>
                      </a:r>
                      <a:endParaRPr lang="en-US" sz="12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Telemetry</a:t>
                      </a:r>
                      <a:endParaRPr lang="en-US" sz="11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B-Tree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20k readings · 8.5 node reads</a:t>
                      </a:r>
                      <a:endParaRPr lang="en-US" sz="12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B-Tree (same)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fixed by the data's shape</a:t>
                      </a:r>
                      <a:endParaRPr lang="en-US" sz="12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Pseudo-polynomial card"/>
          <p:cNvSpPr/>
          <p:nvPr/>
        </p:nvSpPr>
        <p:spPr>
          <a:xfrm>
            <a:off x="7366000" y="1714500"/>
            <a:ext cx="406400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69200" y="1892300"/>
            <a:ext cx="3683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 DP is pseudo-polynomial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569200" y="2171700"/>
            <a:ext cx="368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jobs, budget W raised 50×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569200" y="2489200"/>
            <a:ext cx="1206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7569200" y="2667000"/>
            <a:ext cx="120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→ 5,000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813800" y="2489200"/>
            <a:ext cx="1206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8813800" y="2667000"/>
            <a:ext cx="120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1.8 → 107 ms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0" y="2489200"/>
            <a:ext cx="1206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0" y="2667000"/>
            <a:ext cx="120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 → 13 MiB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569200" y="3086100"/>
            <a:ext cx="368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greedy stayed at 0.03 ms because it does not depend on W. GCD scaling shrinks W at no cost to the answer.</a:t>
            </a:r>
            <a:endParaRPr lang="en-US" sz="1000" dirty="0"/>
          </a:p>
        </p:txBody>
      </p:sp>
      <p:sp>
        <p:nvSpPr>
          <p:cNvPr id="15" name="Tests card"/>
          <p:cNvSpPr/>
          <p:nvPr/>
        </p:nvSpPr>
        <p:spPr>
          <a:xfrm>
            <a:off x="7366000" y="4191000"/>
            <a:ext cx="4064000" cy="1460500"/>
          </a:xfrm>
          <a:prstGeom prst="roundRect">
            <a:avLst>
              <a:gd name="adj" fmla="val 4383"/>
            </a:avLst>
          </a:prstGeom>
          <a:solidFill>
            <a:srgbClr val="11182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569200" y="4381500"/>
            <a:ext cx="15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35/35</a:t>
            </a:r>
            <a:endParaRPr lang="en-US" sz="3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0" y="4381500"/>
            <a:ext cx="215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0" y="4635500"/>
            <a:ext cx="215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· boundary · large · difficult, including DP vs brute force and a balanced B-Tree under sorted inserts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00" y="6350000"/>
            <a:ext cx="635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609600"/>
            <a:ext cx="508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· CONCLUSION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914400"/>
            <a:ext cx="850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algorithm depends on the workload, so the framework measures it first</a:t>
            </a:r>
            <a:endParaRPr lang="en-US" sz="3200" dirty="0"/>
          </a:p>
        </p:txBody>
      </p:sp>
      <p:sp>
        <p:nvSpPr>
          <p:cNvPr id="4" name="Logo plate"/>
          <p:cNvSpPr/>
          <p:nvPr/>
        </p:nvSpPr>
        <p:spPr>
          <a:xfrm>
            <a:off x="9804400" y="609600"/>
            <a:ext cx="1625600" cy="812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</p:spPr>
      </p:sp>
      <p:pic>
        <p:nvPicPr>
          <p:cNvPr id="5" name="Image 0" descr="Woxsen University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0" y="698500"/>
            <a:ext cx="1346200" cy="635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2000" y="2540000"/>
            <a:ext cx="3429000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2000" y="2705100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FINDINGS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762000" y="2984500"/>
            <a:ext cx="3429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Divisibility alone moved benefit from 220 to 240 and switched DP to greedy.</a:t>
            </a:r>
            <a:endParaRPr lang="en-US" sz="12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Bracketing removed 52% of the multiplications with no change in output.</a:t>
            </a:r>
            <a:endParaRPr lang="en-US" sz="12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Fibonacci's O(1) decrease-key wins only when jobs jump the queue.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45000" y="2540000"/>
            <a:ext cx="3429000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45000" y="2705100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LIMITATIONS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4445000" y="2984500"/>
            <a:ext cx="3429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cost is modelled per job, not read from hardware sensors.</a:t>
            </a:r>
            <a:endParaRPr lang="en-US" sz="12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resource only. Memory or deadlines together need a richer model.</a:t>
            </a:r>
            <a:endParaRPr lang="en-US" sz="12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timings: trends hold, absolute values would differ.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128000" y="2540000"/>
            <a:ext cx="3429000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28000" y="2705100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GAPS THAT LED TO NEWER ALGORITHMS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8128000" y="2984500"/>
            <a:ext cx="3429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 constants → pairing heaps</a:t>
            </a:r>
            <a:endParaRPr lang="en-US" sz="12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O(n³) matrix chain → Hu–Shing, O(n log n)</a:t>
            </a:r>
            <a:endParaRPr lang="en-US" sz="12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B-Tree range scans → B+ Trees; heavy writes → LSM-Trees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62000" y="5461000"/>
            <a:ext cx="10668000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62000" y="5613400"/>
            <a:ext cx="635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Questions?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762000" y="6096000"/>
            <a:ext cx="635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 Pranay Kumar Reddy · K. Devi Srikar · K. Shreenanadh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620000" y="58420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Code: [GitHub repository URL]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rmoSched">
  <a:themeElements>
    <a:clrScheme name="ThermoSched">
      <a:dk1>
        <a:srgbClr val="111827"/>
      </a:dk1>
      <a:lt1>
        <a:srgbClr val="FFFFFF"/>
      </a:lt1>
      <a:dk2>
        <a:srgbClr val="4B5563"/>
      </a:dk2>
      <a:lt2>
        <a:srgbClr val="F4F5F7"/>
      </a:lt2>
      <a:accent1>
        <a:srgbClr val="C2410C"/>
      </a:accent1>
      <a:accent2>
        <a:srgbClr val="1D4ED8"/>
      </a:accent2>
      <a:accent3>
        <a:srgbClr val="2A78D6"/>
      </a:accent3>
      <a:accent4>
        <a:srgbClr val="EB6834"/>
      </a:accent4>
      <a:accent5>
        <a:srgbClr val="FDBA74"/>
      </a:accent5>
      <a:accent6>
        <a:srgbClr val="D5DAE1"/>
      </a:accent6>
      <a:hlink>
        <a:srgbClr val="1D4ED8"/>
      </a:hlink>
      <a:folHlink>
        <a:srgbClr val="6B7280"/>
      </a:folHlink>
    </a:clrScheme>
    <a:fontScheme name="ThermoSche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ThermoSched</dc:title>
  <dc:subject>PptxGenJS Presentation</dc:subject>
  <dc:creator>Group 11</dc:creator>
  <cp:lastModifiedBy>Group 11</cp:lastModifiedBy>
  <cp:revision>1</cp:revision>
  <dcterms:created xsi:type="dcterms:W3CDTF">2026-10-12T19:04:13Z</dcterms:created>
  <dcterms:modified xsi:type="dcterms:W3CDTF">2026-10-12T19:04:13Z</dcterms:modified>
</cp:coreProperties>
</file>